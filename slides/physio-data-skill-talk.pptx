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BRIDGE: (open here). I'll use one real skill I built — physio-data — to teach two habits: using Claude Code as a research partner, and packaging recurring work into a reusable skill. Three parts: design, build,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BRIDGE: Here's the map for the whole talk. Two meta-lessons, one running example. The three colours at the bottom — teal, indigo, amber — are Design, Build, Use; you'll see them track across the top of every slide so you always know where we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BRIDGE: Why build this at all? Spot the pattern — the left column never changes, the right column changes every dataset. Fixed shape, varying details. That gap is the trigger for a skill. So, part one: how I designed the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BRIDGE: The design starts from one idea — signals and events have opposite statistics, so they get opposite storage, linked by an index. Next: the principles that fell out of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BRIDGE: Principles are cheap to write, expensive to skip. Each one became a hard rule inside the skill, so Claude never re-argues them. Now — what they produce: the format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BRIDGE: This is the contract — the thing the skill will guarantee on every dataset. Two channels, monotonic time, one universal event record. One more design point, and it's the most important habit: how you actually arrive at a design like this with Claude.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BRIDGE: This is the first thing to steal. The biggest leverage is using Claude to THINK with you — read the data, profile it, argue the format — before any code. The one-patient demo with a visual check is the cheapest bug-catcher you'll ever build. That ends design. Part two: turning all of this into a 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BRIDGE: Let's demystify the word 'skill'. It's a markdown file with frontmatter. The description is the single most important line — it's the trigger. The body is only paid for, in tokens, when the skill fires. Next: what we actually put in that body.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BRIDGE: The body is everything you learned the hard way. Every abort condition maps to a real failure I hit. 'Split by subject, not admission' is there because admission splits leak data — a mistake you make only once if it's in the skill. Now let's see the workflow it enforces.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BRIDGE: Order matters — we check who has clinical data BEFORE the expensive waveform extraction. Stage 3, in coral, is the gate that catches ID-linkage bugs early. Now the second habit to steal: how one skill covers many different datasets.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BRIDGE: This is the second habit. The art of a good skill is drawing the line between what's shared and what varies — put the shared 90% in the skill and package, isolate the variable 10% in a per-dataset spec. That's how one skill covers MIMIC and VitalDB. Last build slide: how to grow your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BRIDGE: Skills are emergent, not upfront. Do it manually a few times, notice the repetition, extract it. Keep it in sync — a stale skill is worse than none. Intern message: every task you repeat this summer is a candidate skill. Now part three: actually using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BRIDGE: Two ways in — type the slash command, or just describe the task and the description field makes Claude pick the skill. Either way it runs the same checkpointed process — which is exactly what the next slide walks 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BRIDGE: The skill is collaborative, not autonomous. The two coral gates — eyeballing the demo plot, approving API.md — are where a human must look. Everything else Claude runs. So does it actually work across datasets? Here's the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BRIDGE: The payoff. Seven datasets — PhysioNet, hospital, open surgical, two internal — same format, same skill. Yields differ because strictness differs, but the format never changed. That's the point of a skill. Let me close with what to take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Two habits — Claude Code is for thinking + building, not just code generation; and the moment a task recurs, capture it. physio-data is one instance; the pattern generalizes to almost anything you do repeatedly. Thank you — happy to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pg_white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-457200" y="109728"/>
            <a:ext cx="10058400" cy="548640"/>
          </a:xfrm>
          <a:prstGeom prst="rect">
            <a:avLst/>
          </a:prstGeom>
        </p:spPr>
      </p:pic>
      <p:pic>
        <p:nvPicPr>
          <p:cNvPr id="3" name="Image 1" descr="assets/ecg_white.png">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4297680" y="4407408"/>
            <a:ext cx="5486400" cy="60350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CASE STUDY IN DOING RESEARCH WITH CLAUDE CODE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02920" y="13258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One-Off Scripts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a Reusable Skill</a:t>
            </a:r>
            <a:endParaRPr lang="en-US" sz="4600" dirty="0"/>
          </a:p>
        </p:txBody>
      </p:sp>
      <p:sp>
        <p:nvSpPr>
          <p:cNvPr id="6" name="Text 2"/>
          <p:cNvSpPr/>
          <p:nvPr/>
        </p:nvSpPr>
        <p:spPr>
          <a:xfrm>
            <a:off x="502920" y="29718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Designing, building &amp; using the  physio-data  skill — turning a recurring research task into something Claude Code does the same way every time.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502920" y="4160520"/>
            <a:ext cx="54864" cy="457200"/>
          </a:xfrm>
          <a:prstGeom prst="rect">
            <a:avLst/>
          </a:prstGeom>
          <a:solidFill>
            <a:srgbClr val="FF6B5C"/>
          </a:solidFill>
          <a:ln/>
        </p:spPr>
      </p:sp>
      <p:sp>
        <p:nvSpPr>
          <p:cNvPr id="8" name="Text 4"/>
          <p:cNvSpPr/>
          <p:nvPr/>
        </p:nvSpPr>
        <p:spPr>
          <a:xfrm>
            <a:off x="667512" y="41148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Minxiao Wang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FB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Emory University  ·  2026-06-10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you'll take away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8813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habits to steal — and one skill that shows them in action.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256032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1828800"/>
            <a:ext cx="713232" cy="713232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392" y="201424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8952" y="2633472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Claude Code</a:t>
            </a:r>
            <a:endParaRPr lang="en-US" sz="16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research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58952" y="3236976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thinking + building partner: explore data, argue design trade-offs, then write code.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91840" y="1572768"/>
            <a:ext cx="256032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47872" y="1828800"/>
            <a:ext cx="713232" cy="713232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312" y="2014240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2633472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Capture recurring</a:t>
            </a:r>
            <a:endParaRPr lang="en-US" sz="16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as a skill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3547872" y="3236976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of problem, again and again? Write it down once so Claude repeats it reliably.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80760" y="1572768"/>
            <a:ext cx="256032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36792" y="1828800"/>
            <a:ext cx="713232" cy="713232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232" y="2014240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36792" y="2633472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case study:</a:t>
            </a:r>
            <a:endParaRPr lang="en-US" sz="16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physio-data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6336792" y="3236976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canonical format for messy physiological datasets — already used on 7 of them.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02920" y="4069080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0F2A43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685800" y="4069080"/>
            <a:ext cx="243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 </a:t>
            </a:r>
            <a:pPr indent="0" marL="0">
              <a:buNone/>
            </a:pPr>
            <a:r>
              <a:rPr lang="en-US" sz="1100" dirty="0">
                <a:solidFill>
                  <a:srgbClr val="9FB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understand the problem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3215640" y="4178808"/>
            <a:ext cx="0" cy="347472"/>
          </a:xfrm>
          <a:prstGeom prst="line">
            <a:avLst/>
          </a:prstGeom>
          <a:noFill/>
          <a:ln w="12700">
            <a:solidFill>
              <a:srgbClr val="27506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398520" y="4069080"/>
            <a:ext cx="243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 </a:t>
            </a:r>
            <a:pPr indent="0" marL="0">
              <a:buNone/>
            </a:pPr>
            <a:r>
              <a:rPr lang="en-US" sz="1100" dirty="0">
                <a:solidFill>
                  <a:srgbClr val="9FB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encode it as a skill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5928360" y="4178808"/>
            <a:ext cx="0" cy="347472"/>
          </a:xfrm>
          <a:prstGeom prst="line">
            <a:avLst/>
          </a:prstGeom>
          <a:noFill/>
          <a:ln w="12700">
            <a:solidFill>
              <a:srgbClr val="27506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111240" y="4069080"/>
            <a:ext cx="243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 </a:t>
            </a:r>
            <a:pPr indent="0" marL="0">
              <a:buNone/>
            </a:pPr>
            <a:r>
              <a:rPr lang="en-US" sz="1100" dirty="0">
                <a:solidFill>
                  <a:srgbClr val="9FB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onboard new datasets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50292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physio-data  ·  Claude Code skills for research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8229600" y="48143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same job, over and over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8813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shape, different details — the signature of a task worth turning into a skill.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95020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874520"/>
            <a:ext cx="64008" cy="1920240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" y="2093976"/>
            <a:ext cx="548640" cy="548640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310" y="2236622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99032" y="213055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83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ALWAYS THE SAME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2551176"/>
            <a:ext cx="3419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Waveforms (ECG/PPG/ABP) + clinical events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→ segment into fixed windows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events to signal segments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patients with BOTH signals &amp; events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Verify, then split train/val/test by subject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90872" y="1874520"/>
            <a:ext cx="395020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90872" y="1874520"/>
            <a:ext cx="64008" cy="1920240"/>
          </a:xfrm>
          <a:prstGeom prst="rect">
            <a:avLst/>
          </a:prstGeom>
          <a:solidFill>
            <a:srgbClr val="FF6B5C"/>
          </a:solidFill>
          <a:ln/>
        </p:spPr>
      </p:sp>
      <p:sp>
        <p:nvSpPr>
          <p:cNvPr id="13" name="Shape 10"/>
          <p:cNvSpPr/>
          <p:nvPr/>
        </p:nvSpPr>
        <p:spPr>
          <a:xfrm>
            <a:off x="4928616" y="2093976"/>
            <a:ext cx="548640" cy="548640"/>
          </a:xfrm>
          <a:prstGeom prst="ellipse">
            <a:avLst/>
          </a:prstGeom>
          <a:solidFill>
            <a:srgbClr val="FBE7E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262" y="2236622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86984" y="213055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6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DIFFERENT EVERY TIME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65192" y="2551176"/>
            <a:ext cx="3419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format: WFDB · EDF · CSV · Parquet · XML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rates: 40 / 125 / 240 / 500 Hz …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patients/encounters link to signals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Timezones, sentinels, missing-channel quirks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labs / vitals / meds exist + their units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02920" y="392277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ad-hoc each time = repeated mistakes, no consistency, no checks.  </a:t>
            </a:r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exactly when a skill pays off.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0292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physio-data  ·  Claude Code skills for research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8229600" y="48143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pg_white.png">    </p:cNvPr>
          <p:cNvPicPr>
            <a:picLocks noChangeAspect="1"/>
          </p:cNvPicPr>
          <p:nvPr/>
        </p:nvPicPr>
        <p:blipFill>
          <a:blip r:embed="rId1">
            <a:alphaModFix amt="26000"/>
          </a:blip>
          <a:stretch>
            <a:fillRect/>
          </a:stretch>
        </p:blipFill>
        <p:spPr>
          <a:xfrm>
            <a:off x="-457200" y="4114800"/>
            <a:ext cx="10058400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0E8388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Design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72084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/>
        </p:spPr>
      </p:sp>
      <p:sp>
        <p:nvSpPr>
          <p:cNvPr id="6" name="Text 3"/>
          <p:cNvSpPr/>
          <p:nvPr/>
        </p:nvSpPr>
        <p:spPr>
          <a:xfrm>
            <a:off x="672084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Build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72668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/>
        </p:spPr>
      </p:sp>
      <p:sp>
        <p:nvSpPr>
          <p:cNvPr id="8" name="Text 5"/>
          <p:cNvSpPr/>
          <p:nvPr/>
        </p:nvSpPr>
        <p:spPr>
          <a:xfrm>
            <a:off x="772668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Use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10515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1517904"/>
            <a:ext cx="109728" cy="950976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1" name="Text 8"/>
          <p:cNvSpPr/>
          <p:nvPr/>
        </p:nvSpPr>
        <p:spPr>
          <a:xfrm>
            <a:off x="795528" y="138988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813816" y="2542032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a recurring problem. First, design the solution — before any code.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532120" y="1325880"/>
            <a:ext cx="3108960" cy="2514600"/>
          </a:xfrm>
          <a:prstGeom prst="roundRect">
            <a:avLst>
              <a:gd name="adj" fmla="val 2909"/>
            </a:avLst>
          </a:prstGeom>
          <a:solidFill>
            <a:srgbClr val="1B3D5C"/>
          </a:solidFill>
          <a:ln w="12700">
            <a:solidFill>
              <a:srgbClr val="27506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9864" y="15179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D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THIS PART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69864" y="188366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1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key insight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769864" y="22860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1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Five design principles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769864" y="268833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1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canonical format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769864" y="309067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indent="0" marL="0">
              <a:buNone/>
            </a:pPr>
            <a:r>
              <a:rPr lang="en-US" sz="11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Meta-lesson #1: design with Claude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Signals ≠ events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8813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kinds of data deserve different storage.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71500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0E8388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Design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2084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Build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2668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/>
        </p:spPr>
      </p:sp>
      <p:sp>
        <p:nvSpPr>
          <p:cNvPr id="10" name="Text 8"/>
          <p:cNvSpPr/>
          <p:nvPr/>
        </p:nvSpPr>
        <p:spPr>
          <a:xfrm>
            <a:off x="772668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Use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72768"/>
            <a:ext cx="3950208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58952" y="1810512"/>
            <a:ext cx="603504" cy="603504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863" y="1967423"/>
            <a:ext cx="289682" cy="28968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63040" y="1847088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83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463040" y="2139696"/>
            <a:ext cx="2761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· regular · high-rate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95528" y="2578608"/>
            <a:ext cx="3401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as mmap-ready  .npy  arrays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= one fixed-length window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float16, C-contiguous → zero-copy reads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690872" y="1572768"/>
            <a:ext cx="3950208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946904" y="1810512"/>
            <a:ext cx="603504" cy="603504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815" y="1967423"/>
            <a:ext cx="289682" cy="28968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650992" y="1847088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77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EVENTS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650992" y="2139696"/>
            <a:ext cx="2761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· irregular · point-in-time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983480" y="2578608"/>
            <a:ext cx="3401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as a sparse structured array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= one measurement / annotation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dense padding, only what was recorded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502920" y="3822192"/>
            <a:ext cx="8138160" cy="658368"/>
          </a:xfrm>
          <a:prstGeom prst="roundRect">
            <a:avLst>
              <a:gd name="adj" fmla="val 12500"/>
            </a:avLst>
          </a:prstGeom>
          <a:solidFill>
            <a:srgbClr val="0F2A43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58952" y="3931920"/>
            <a:ext cx="438912" cy="438912"/>
          </a:xfrm>
          <a:prstGeom prst="ellipse">
            <a:avLst/>
          </a:prstGeom>
          <a:solidFill>
            <a:srgbClr val="27506F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069" y="4046037"/>
            <a:ext cx="210678" cy="21067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344168" y="3822192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is an index, not a copy.  </a:t>
            </a:r>
            <a:pPr indent="0" marL="0">
              <a:buNone/>
            </a:pPr>
            <a:r>
              <a:rPr lang="en-US" sz="12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event carries a  </a:t>
            </a:r>
            <a:pPr indent="0" marL="0">
              <a:buNone/>
            </a:pPr>
            <a:r>
              <a:rPr lang="en-US" sz="12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seg_idx</a:t>
            </a:r>
            <a:pPr indent="0" marL="0">
              <a:buNone/>
            </a:pPr>
            <a:r>
              <a:rPr lang="en-US" sz="12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into the signal array — no duplication, no padding.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50292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physio-data  ·  Claude Code skills for research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8229600" y="48143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PRINCIPLES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rules, written before any code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8813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rules once, up front — they settle a hundred later choices.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71500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0E8388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Design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2084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Build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2668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/>
        </p:spPr>
      </p:sp>
      <p:sp>
        <p:nvSpPr>
          <p:cNvPr id="10" name="Text 8"/>
          <p:cNvSpPr/>
          <p:nvPr/>
        </p:nvSpPr>
        <p:spPr>
          <a:xfrm>
            <a:off x="772668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Use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481328"/>
            <a:ext cx="3950208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" y="1636776"/>
            <a:ext cx="457200" cy="457200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755648"/>
            <a:ext cx="219456" cy="21945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52728" y="157276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Different data, different storage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252728" y="1847088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→ dense mmap arrays; events → sparse records. Don't force one shape.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90872" y="1481328"/>
            <a:ext cx="3950208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73752" y="1636776"/>
            <a:ext cx="457200" cy="457200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1755648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40680" y="157276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Alignment is an index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440680" y="1847088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point into segments via seg_idx. No copies, no dense padding.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02920" y="2359152"/>
            <a:ext cx="3950208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85800" y="2514600"/>
            <a:ext cx="457200" cy="457200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633472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252728" y="2450592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CPU on the hot path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252728" y="2724912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mmap, no compression. GPU-server CPUs are weak — keep reads zero-copy.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690872" y="2359152"/>
            <a:ext cx="3950208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873752" y="2514600"/>
            <a:ext cx="457200" cy="457200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2633472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40680" y="2450592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Extensible without breakage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5440680" y="2724912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variable = new row; new channel = new file. Old shapes never change.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502920" y="3236976"/>
            <a:ext cx="3950208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85800" y="3392424"/>
            <a:ext cx="457200" cy="457200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511296"/>
            <a:ext cx="219456" cy="21945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252728" y="3328416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values in storage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1252728" y="3602736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normalization / interpolation at rest — those are runtime choices.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4690872" y="3236976"/>
            <a:ext cx="3950208" cy="768096"/>
          </a:xfrm>
          <a:prstGeom prst="roundRect">
            <a:avLst>
              <a:gd name="adj" fmla="val 10714"/>
            </a:avLst>
          </a:prstGeom>
          <a:solidFill>
            <a:srgbClr val="0F2A43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4873752" y="3392424"/>
            <a:ext cx="457200" cy="457200"/>
          </a:xfrm>
          <a:prstGeom prst="ellipse">
            <a:avLst/>
          </a:prstGeom>
          <a:solidFill>
            <a:srgbClr val="27506F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624" y="3511296"/>
            <a:ext cx="219456" cy="21945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440680" y="3236976"/>
            <a:ext cx="3035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first, code later.  </a:t>
            </a:r>
            <a:pPr indent="0" marL="0">
              <a:buNone/>
            </a:pPr>
            <a:r>
              <a:rPr lang="en-US" sz="1050" dirty="0">
                <a:solidFill>
                  <a:srgbClr val="BC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were written before any extraction code.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50292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physio-data  ·  Claude Code skills for research</a:t>
            </a:r>
            <a:endParaRPr lang="en-US" sz="850" dirty="0"/>
          </a:p>
        </p:txBody>
      </p:sp>
      <p:sp>
        <p:nvSpPr>
          <p:cNvPr id="41" name="Text 33"/>
          <p:cNvSpPr/>
          <p:nvPr/>
        </p:nvSpPr>
        <p:spPr>
          <a:xfrm>
            <a:off x="8229600" y="48143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FORMAT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canonical format for all datasets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8813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layout fits every dataset: two channels + one universal event record.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71500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0E8388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Design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2084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Build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2668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/>
        </p:spPr>
      </p:sp>
      <p:sp>
        <p:nvSpPr>
          <p:cNvPr id="10" name="Text 8"/>
          <p:cNvSpPr/>
          <p:nvPr/>
        </p:nvSpPr>
        <p:spPr>
          <a:xfrm>
            <a:off x="772668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Use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54480"/>
            <a:ext cx="4343400" cy="2697480"/>
          </a:xfrm>
          <a:prstGeom prst="roundRect">
            <a:avLst>
              <a:gd name="adj" fmla="val 3051"/>
            </a:avLst>
          </a:prstGeom>
          <a:solidFill>
            <a:srgbClr val="0F2A43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8952" y="17007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{entity_id}/   one patient-encounter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048256"/>
            <a:ext cx="3886200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PLETH40.npy</a:t>
            </a:r>
            <a:endParaRPr lang="en-US" sz="11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8FB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[N_seg, 1200]  PPG @ 40 Hz  (base)</a:t>
            </a:r>
            <a:endParaRPr lang="en-US" sz="11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II120.npy</a:t>
            </a:r>
            <a:endParaRPr lang="en-US" sz="11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8FB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[N_seg, 3600]  ECG @ 120 Hz  (NaN if absent)</a:t>
            </a:r>
            <a:endParaRPr lang="en-US" sz="11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time_ms.npy</a:t>
            </a:r>
            <a:endParaRPr lang="en-US" sz="11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8FB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[N_seg]  int64, monotonic</a:t>
            </a:r>
            <a:endParaRPr lang="en-US" sz="11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ehr_events.npy</a:t>
            </a:r>
            <a:endParaRPr lang="en-US" sz="11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8FB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[N_events]  sparse structured array</a:t>
            </a:r>
            <a:endParaRPr lang="en-US" sz="11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meta.json</a:t>
            </a:r>
            <a:endParaRPr lang="en-US" sz="11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8FB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manifest + provenance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02352" y="1554480"/>
            <a:ext cx="3538728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21808" y="167335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event = one tiny record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21808" y="1984248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time_ms , seg_idx , var_id , value 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21808" y="2276856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time · seg_idx links to a window · var_id looks up name/unit in a shared registry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02352" y="2880360"/>
            <a:ext cx="35387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21808" y="299923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var_id ranges encode category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40096" y="3337560"/>
            <a:ext cx="146304" cy="14630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21" name="Text 19"/>
          <p:cNvSpPr/>
          <p:nvPr/>
        </p:nvSpPr>
        <p:spPr>
          <a:xfrm>
            <a:off x="5577840" y="3282696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0–99     </a:t>
            </a:r>
            <a:pPr indent="0" marL="0">
              <a:buNone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Labs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40096" y="3552444"/>
            <a:ext cx="146304" cy="14630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3" name="Text 21"/>
          <p:cNvSpPr/>
          <p:nvPr/>
        </p:nvSpPr>
        <p:spPr>
          <a:xfrm>
            <a:off x="5577840" y="3497580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100–199  </a:t>
            </a:r>
            <a:pPr indent="0" marL="0">
              <a:buNone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Vitals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40096" y="3767328"/>
            <a:ext cx="146304" cy="146304"/>
          </a:xfrm>
          <a:prstGeom prst="rect">
            <a:avLst/>
          </a:prstGeom>
          <a:solidFill>
            <a:srgbClr val="F4A24E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0" y="3712464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200–299  </a:t>
            </a:r>
            <a:pPr indent="0" marL="0">
              <a:buNone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40096" y="3982212"/>
            <a:ext cx="146304" cy="146304"/>
          </a:xfrm>
          <a:prstGeom prst="rect">
            <a:avLst/>
          </a:prstGeom>
          <a:solidFill>
            <a:srgbClr val="FF6B5C"/>
          </a:solidFill>
          <a:ln/>
        </p:spPr>
      </p:sp>
      <p:sp>
        <p:nvSpPr>
          <p:cNvPr id="27" name="Text 25"/>
          <p:cNvSpPr/>
          <p:nvPr/>
        </p:nvSpPr>
        <p:spPr>
          <a:xfrm>
            <a:off x="5577840" y="3927348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300–399  </a:t>
            </a:r>
            <a:pPr indent="0" marL="0">
              <a:buNone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Scores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physio-data  ·  Claude Code skills for research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229600" y="48143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META-LESSON #1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it WITH Claude Code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8813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and design with Claude before you ask it for code.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71500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0E8388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Design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2084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Build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2668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/>
        </p:spPr>
      </p:sp>
      <p:sp>
        <p:nvSpPr>
          <p:cNvPr id="10" name="Text 8"/>
          <p:cNvSpPr/>
          <p:nvPr/>
        </p:nvSpPr>
        <p:spPr>
          <a:xfrm>
            <a:off x="772668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Use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691640"/>
            <a:ext cx="25603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50008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AF1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740664" y="1947672"/>
            <a:ext cx="566928" cy="566928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065" y="2095073"/>
            <a:ext cx="272125" cy="27212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40664" y="2651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first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40664" y="29900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docs &amp; papers, explore the raw files. Claude searches, reads, runs probes with you.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91840" y="1691640"/>
            <a:ext cx="25603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138928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AF1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19" name="Shape 16"/>
          <p:cNvSpPr/>
          <p:nvPr/>
        </p:nvSpPr>
        <p:spPr>
          <a:xfrm>
            <a:off x="3529584" y="1947672"/>
            <a:ext cx="566928" cy="566928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985" y="2095073"/>
            <a:ext cx="272125" cy="27212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529584" y="2651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a design doc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3529584" y="29900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Claude argue trade-offs in a PLAN.md before code. Decisions get recorded, not re-debated.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080760" y="1691640"/>
            <a:ext cx="25603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7927848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AF1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25" name="Shape 21"/>
          <p:cNvSpPr/>
          <p:nvPr/>
        </p:nvSpPr>
        <p:spPr>
          <a:xfrm>
            <a:off x="6318504" y="1947672"/>
            <a:ext cx="566928" cy="566928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905" y="2095073"/>
            <a:ext cx="272125" cy="27212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318504" y="2651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Demo, then verify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318504" y="29900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entity end-to-end, plot signal + event alignment, eyeball it before scaling.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502920" y="4041648"/>
            <a:ext cx="8138160" cy="566928"/>
          </a:xfrm>
          <a:prstGeom prst="rect">
            <a:avLst/>
          </a:prstGeom>
          <a:solidFill>
            <a:srgbClr val="0E8388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4197096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143000" y="40416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open with “write me a script.” Explore and design with Claude first.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50292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physio-data  ·  Claude Code skills for research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8229600" y="48143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ecg_white.png">    </p:cNvPr>
          <p:cNvPicPr>
            <a:picLocks noChangeAspect="1"/>
          </p:cNvPicPr>
          <p:nvPr/>
        </p:nvPicPr>
        <p:blipFill>
          <a:blip r:embed="rId1">
            <a:alphaModFix amt="26000"/>
          </a:blip>
          <a:stretch>
            <a:fillRect/>
          </a:stretch>
        </p:blipFill>
        <p:spPr>
          <a:xfrm>
            <a:off x="-457200" y="4114800"/>
            <a:ext cx="10058400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Design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72084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/>
        </p:spPr>
      </p:sp>
      <p:sp>
        <p:nvSpPr>
          <p:cNvPr id="6" name="Text 3"/>
          <p:cNvSpPr/>
          <p:nvPr/>
        </p:nvSpPr>
        <p:spPr>
          <a:xfrm>
            <a:off x="672084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Build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72668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/>
        </p:spPr>
      </p:sp>
      <p:sp>
        <p:nvSpPr>
          <p:cNvPr id="8" name="Text 5"/>
          <p:cNvSpPr/>
          <p:nvPr/>
        </p:nvSpPr>
        <p:spPr>
          <a:xfrm>
            <a:off x="772668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Use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10515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EB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1517904"/>
            <a:ext cx="109728" cy="950976"/>
          </a:xfrm>
          <a:prstGeom prst="rect">
            <a:avLst/>
          </a:prstGeom>
          <a:solidFill>
            <a:srgbClr val="4F5BD5"/>
          </a:solidFill>
          <a:ln/>
        </p:spPr>
      </p:sp>
      <p:sp>
        <p:nvSpPr>
          <p:cNvPr id="11" name="Text 8"/>
          <p:cNvSpPr/>
          <p:nvPr/>
        </p:nvSpPr>
        <p:spPr>
          <a:xfrm>
            <a:off x="795528" y="138988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813816" y="2542032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the design. Now encode it as a skill Claude can reuse.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532120" y="1325880"/>
            <a:ext cx="3108960" cy="2514600"/>
          </a:xfrm>
          <a:prstGeom prst="roundRect">
            <a:avLst>
              <a:gd name="adj" fmla="val 2909"/>
            </a:avLst>
          </a:prstGeom>
          <a:solidFill>
            <a:srgbClr val="1B3D5C"/>
          </a:solidFill>
          <a:ln w="12700">
            <a:solidFill>
              <a:srgbClr val="27506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9864" y="15179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EB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THIS PART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69864" y="1883664"/>
            <a:ext cx="2651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5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1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Anatomy of a skill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769864" y="2258568"/>
            <a:ext cx="2651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5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1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What goes inside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769864" y="2633472"/>
            <a:ext cx="2651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5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1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encoded workflow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769864" y="3008376"/>
            <a:ext cx="2651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5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indent="0" marL="0">
              <a:buNone/>
            </a:pPr>
            <a:r>
              <a:rPr lang="en-US" sz="11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Meta-lesson #2: shared vs variable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769864" y="3383280"/>
            <a:ext cx="2651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5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indent="0" marL="0">
              <a:buNone/>
            </a:pPr>
            <a:r>
              <a:rPr lang="en-US" sz="11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Grow your own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5BD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skill is just a SKILL.md file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8813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4F5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markdown file Claude auto-loads when its description matches your request.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71500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Design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2084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Build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2668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/>
        </p:spPr>
      </p:sp>
      <p:sp>
        <p:nvSpPr>
          <p:cNvPr id="10" name="Text 8"/>
          <p:cNvSpPr/>
          <p:nvPr/>
        </p:nvSpPr>
        <p:spPr>
          <a:xfrm>
            <a:off x="772668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Use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72768"/>
            <a:ext cx="4892040" cy="2286000"/>
          </a:xfrm>
          <a:prstGeom prst="roundRect">
            <a:avLst>
              <a:gd name="adj" fmla="val 3600"/>
            </a:avLst>
          </a:prstGeom>
          <a:solidFill>
            <a:srgbClr val="0F2A43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8952" y="17007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B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011680"/>
            <a:ext cx="43891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physio-data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Onboard &amp; preprocess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physiological time-series datasets into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 canonical mmap-ready format…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argument-hint: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[dataset | "explore"…]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D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Physio_Data Preprocessing Skill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FB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principles · format · workflow · gates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50992" y="1572768"/>
            <a:ext cx="2990088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50992" y="1572768"/>
            <a:ext cx="64008" cy="694944"/>
          </a:xfrm>
          <a:prstGeom prst="rect">
            <a:avLst/>
          </a:prstGeom>
          <a:solidFill>
            <a:srgbClr val="FF6B5C"/>
          </a:solidFill>
          <a:ln/>
        </p:spPr>
      </p:sp>
      <p:sp>
        <p:nvSpPr>
          <p:cNvPr id="16" name="Text 14"/>
          <p:cNvSpPr/>
          <p:nvPr/>
        </p:nvSpPr>
        <p:spPr>
          <a:xfrm>
            <a:off x="5870448" y="1673352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 = the trigger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870448" y="1947672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field that decides whether Claude reaches for this skill. Write it for recall.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50992" y="2359152"/>
            <a:ext cx="2990088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50992" y="2359152"/>
            <a:ext cx="64008" cy="694944"/>
          </a:xfrm>
          <a:prstGeom prst="rect">
            <a:avLst/>
          </a:prstGeom>
          <a:solidFill>
            <a:srgbClr val="4F5BD5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2459736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+ argument-hint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870448" y="2734056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invoked: /physio-data mimic3.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50992" y="3145536"/>
            <a:ext cx="2990088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50992" y="3145536"/>
            <a:ext cx="64008" cy="694944"/>
          </a:xfrm>
          <a:prstGeom prst="rect">
            <a:avLst/>
          </a:prstGeom>
          <a:solidFill>
            <a:srgbClr val="4F5BD5"/>
          </a:solidFill>
          <a:ln/>
        </p:spPr>
      </p:sp>
      <p:sp>
        <p:nvSpPr>
          <p:cNvPr id="24" name="Text 22"/>
          <p:cNvSpPr/>
          <p:nvPr/>
        </p:nvSpPr>
        <p:spPr>
          <a:xfrm>
            <a:off x="5870448" y="324612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body = the expertise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870448" y="352044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Claude should know &amp; do — loaded only when relevant.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physio-data  ·  Claude Code skills for research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229600" y="48143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5BD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INSIDE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 the body: hard-won knowledge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8813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4F5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is your mistakes, written down as rules — enforced every run.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71500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Design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2084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Build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2668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/>
        </p:spPr>
      </p:sp>
      <p:sp>
        <p:nvSpPr>
          <p:cNvPr id="10" name="Text 8"/>
          <p:cNvSpPr/>
          <p:nvPr/>
        </p:nvSpPr>
        <p:spPr>
          <a:xfrm>
            <a:off x="772668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Use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72768"/>
            <a:ext cx="3950208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22376" y="1865376"/>
            <a:ext cx="530352" cy="530352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268" y="2003268"/>
            <a:ext cx="254569" cy="25456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80744" y="1773936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format spec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380744" y="210312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canonical contract: dtypes, channels, the event record. Non-negotiable.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90872" y="1572768"/>
            <a:ext cx="3950208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910328" y="1865376"/>
            <a:ext cx="530352" cy="530352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20" y="2003268"/>
            <a:ext cx="254569" cy="25456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568696" y="1773936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ordered workflow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568696" y="210312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→ Stages 1–5 → post-stages. "Do not skip ahead."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02920" y="2798064"/>
            <a:ext cx="3950208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22376" y="3090672"/>
            <a:ext cx="530352" cy="530352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268" y="3228564"/>
            <a:ext cx="254569" cy="254569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80744" y="2999232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 gates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380744" y="3328416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 after every stage, with explicit abort conditions.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690872" y="2798064"/>
            <a:ext cx="3950208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910328" y="3090672"/>
            <a:ext cx="530352" cy="530352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20" y="3228564"/>
            <a:ext cx="254569" cy="254569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68696" y="2999232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 constraints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5568696" y="3328416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compression · split by subject, not admission · raw values only.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0292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physio-data  ·  Claude Code skills for research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8229600" y="48143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5BD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workflow, encoded as ordered stages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8813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4F5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order, with a verification gate after every stage.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71500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Design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2084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Build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2668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/>
        </p:spPr>
      </p:sp>
      <p:sp>
        <p:nvSpPr>
          <p:cNvPr id="10" name="Text 8"/>
          <p:cNvSpPr/>
          <p:nvPr/>
        </p:nvSpPr>
        <p:spPr>
          <a:xfrm>
            <a:off x="772668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Use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17904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EAF1F6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" y="158191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917" y="1696029"/>
            <a:ext cx="210678" cy="21067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1016" y="1517904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5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 </a:t>
            </a:r>
            <a:pPr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→  explore raw data  →  single-entity demo  →  write &amp; review  API.md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2920" y="2304288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9224" y="24140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5BD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49224" y="283464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Scan</a:t>
            </a:r>
            <a:endParaRPr lang="en-US" sz="13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49224" y="3255264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7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required channels?</a:t>
            </a:r>
            <a:endParaRPr lang="en-US" sz="87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104" y="2889504"/>
            <a:ext cx="201168" cy="20116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2167128" y="2304288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2313432" y="24140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5BD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2313432" y="283464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</a:t>
            </a:r>
            <a:endParaRPr lang="en-US" sz="13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events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2313432" y="3255264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7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target variables</a:t>
            </a:r>
            <a:endParaRPr lang="en-US" sz="87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312" y="2889504"/>
            <a:ext cx="201168" cy="201168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3831336" y="2304288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FF6B5C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3977640" y="24140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27" name="Text 22"/>
          <p:cNvSpPr/>
          <p:nvPr/>
        </p:nvSpPr>
        <p:spPr>
          <a:xfrm>
            <a:off x="3977640" y="283464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</a:t>
            </a:r>
            <a:endParaRPr lang="en-US" sz="13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3977640" y="3255264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70" dirty="0">
                <a:solidFill>
                  <a:srgbClr val="F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BOTH (the gate)</a:t>
            </a:r>
            <a:endParaRPr lang="en-US" sz="87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2889504"/>
            <a:ext cx="201168" cy="201168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5495544" y="2304288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5641848" y="24140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5BD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32" name="Text 26"/>
          <p:cNvSpPr/>
          <p:nvPr/>
        </p:nvSpPr>
        <p:spPr>
          <a:xfrm>
            <a:off x="5641848" y="283464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</a:t>
            </a:r>
            <a:endParaRPr lang="en-US" sz="13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signals</a:t>
            </a:r>
            <a:endParaRPr lang="en-US" sz="1350" dirty="0"/>
          </a:p>
        </p:txBody>
      </p:sp>
      <p:sp>
        <p:nvSpPr>
          <p:cNvPr id="33" name="Text 27"/>
          <p:cNvSpPr/>
          <p:nvPr/>
        </p:nvSpPr>
        <p:spPr>
          <a:xfrm>
            <a:off x="5641848" y="3255264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7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resample·segment·align</a:t>
            </a:r>
            <a:endParaRPr lang="en-US" sz="87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728" y="2889504"/>
            <a:ext cx="201168" cy="201168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7159752" y="2304288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36" name="Text 29"/>
          <p:cNvSpPr/>
          <p:nvPr/>
        </p:nvSpPr>
        <p:spPr>
          <a:xfrm>
            <a:off x="7306056" y="24140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5BD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400" dirty="0"/>
          </a:p>
        </p:txBody>
      </p:sp>
      <p:sp>
        <p:nvSpPr>
          <p:cNvPr id="37" name="Text 30"/>
          <p:cNvSpPr/>
          <p:nvPr/>
        </p:nvSpPr>
        <p:spPr>
          <a:xfrm>
            <a:off x="7306056" y="283464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Manifest</a:t>
            </a:r>
            <a:endParaRPr lang="en-US" sz="13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splits</a:t>
            </a:r>
            <a:endParaRPr lang="en-US" sz="1350" dirty="0"/>
          </a:p>
        </p:txBody>
      </p:sp>
      <p:sp>
        <p:nvSpPr>
          <p:cNvPr id="38" name="Text 31"/>
          <p:cNvSpPr/>
          <p:nvPr/>
        </p:nvSpPr>
        <p:spPr>
          <a:xfrm>
            <a:off x="7306056" y="3255264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7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subject</a:t>
            </a:r>
            <a:endParaRPr lang="en-US" sz="870" dirty="0"/>
          </a:p>
        </p:txBody>
      </p:sp>
      <p:sp>
        <p:nvSpPr>
          <p:cNvPr id="39" name="Shape 32"/>
          <p:cNvSpPr/>
          <p:nvPr/>
        </p:nvSpPr>
        <p:spPr>
          <a:xfrm>
            <a:off x="502920" y="3840480"/>
            <a:ext cx="8138160" cy="502920"/>
          </a:xfrm>
          <a:prstGeom prst="roundRect">
            <a:avLst>
              <a:gd name="adj" fmla="val 16364"/>
            </a:avLst>
          </a:prstGeom>
          <a:solidFill>
            <a:srgbClr val="0F2A43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685800" y="3895344"/>
            <a:ext cx="384048" cy="384048"/>
          </a:xfrm>
          <a:prstGeom prst="ellipse">
            <a:avLst/>
          </a:prstGeom>
          <a:solidFill>
            <a:srgbClr val="27506F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652" y="3995196"/>
            <a:ext cx="184343" cy="184343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216152" y="384048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after every stage  </a:t>
            </a:r>
            <a:pPr indent="0" marL="0">
              <a:buNone/>
            </a:pPr>
            <a:r>
              <a:rPr lang="en-US" sz="1150" dirty="0">
                <a:solidFill>
                  <a:srgbClr val="BC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test with  --limit 5  before any full run  ·  Stage 3 aborts on zero overlap</a:t>
            </a:r>
            <a:endParaRPr lang="en-US" sz="1150" dirty="0"/>
          </a:p>
        </p:txBody>
      </p:sp>
      <p:sp>
        <p:nvSpPr>
          <p:cNvPr id="43" name="Text 35"/>
          <p:cNvSpPr/>
          <p:nvPr/>
        </p:nvSpPr>
        <p:spPr>
          <a:xfrm>
            <a:off x="50292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physio-data  ·  Claude Code skills for research</a:t>
            </a:r>
            <a:endParaRPr lang="en-US" sz="850" dirty="0"/>
          </a:p>
        </p:txBody>
      </p:sp>
      <p:sp>
        <p:nvSpPr>
          <p:cNvPr id="44" name="Text 36"/>
          <p:cNvSpPr/>
          <p:nvPr/>
        </p:nvSpPr>
        <p:spPr>
          <a:xfrm>
            <a:off x="8229600" y="48143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5BD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META-LESSON #2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+ different: a layered design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8813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4F5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the shared 90% from the per-dataset 10%.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71500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Design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2084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Build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2668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/>
        </p:spPr>
      </p:sp>
      <p:sp>
        <p:nvSpPr>
          <p:cNvPr id="10" name="Text 8"/>
          <p:cNvSpPr/>
          <p:nvPr/>
        </p:nvSpPr>
        <p:spPr>
          <a:xfrm>
            <a:off x="772668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Use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783080"/>
            <a:ext cx="813816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783080"/>
            <a:ext cx="73152" cy="640080"/>
          </a:xfrm>
          <a:prstGeom prst="rect">
            <a:avLst/>
          </a:prstGeom>
          <a:solidFill>
            <a:srgbClr val="4F5BD5"/>
          </a:solidFill>
          <a:ln/>
        </p:spPr>
      </p:sp>
      <p:sp>
        <p:nvSpPr>
          <p:cNvPr id="13" name="Shape 11"/>
          <p:cNvSpPr/>
          <p:nvPr/>
        </p:nvSpPr>
        <p:spPr>
          <a:xfrm>
            <a:off x="740664" y="1892808"/>
            <a:ext cx="420624" cy="420624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026" y="2002170"/>
            <a:ext cx="201900" cy="2019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25880" y="1874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5BD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834640" y="1874520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SKILL.md — the workflow &amp; rules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834640" y="2148840"/>
            <a:ext cx="5806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 every dataset: principles, format, stages, gates.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2514600"/>
            <a:ext cx="813816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02920" y="2514600"/>
            <a:ext cx="73152" cy="640080"/>
          </a:xfrm>
          <a:prstGeom prst="rect">
            <a:avLst/>
          </a:prstGeom>
          <a:solidFill>
            <a:srgbClr val="4F5BD5"/>
          </a:solidFill>
          <a:ln/>
        </p:spPr>
      </p:sp>
      <p:sp>
        <p:nvSpPr>
          <p:cNvPr id="20" name="Shape 17"/>
          <p:cNvSpPr/>
          <p:nvPr/>
        </p:nvSpPr>
        <p:spPr>
          <a:xfrm>
            <a:off x="740664" y="2624328"/>
            <a:ext cx="420624" cy="420624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026" y="2733690"/>
            <a:ext cx="201900" cy="2019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325880" y="26060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5BD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834640" y="2606040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physio_data package — the code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2834640" y="2880360"/>
            <a:ext cx="5806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utilities: resample, segment, align, verify, manifest.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502920" y="3246120"/>
            <a:ext cx="813816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02920" y="3246120"/>
            <a:ext cx="73152" cy="640080"/>
          </a:xfrm>
          <a:prstGeom prst="rect">
            <a:avLst/>
          </a:prstGeom>
          <a:solidFill>
            <a:srgbClr val="F4A24E"/>
          </a:solidFill>
          <a:ln/>
        </p:spPr>
      </p:sp>
      <p:sp>
        <p:nvSpPr>
          <p:cNvPr id="27" name="Shape 23"/>
          <p:cNvSpPr/>
          <p:nvPr/>
        </p:nvSpPr>
        <p:spPr>
          <a:xfrm>
            <a:off x="740664" y="3355848"/>
            <a:ext cx="420624" cy="420624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26" y="3465210"/>
            <a:ext cx="201900" cy="2019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325880" y="3337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2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PER-DATASET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2834640" y="3337560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API.md + scripts — the variable 10%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2834640" y="3611880"/>
            <a:ext cx="5806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Paths, sample rates, ID linkage, timezones, which labs/vitals exist.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502920" y="4041648"/>
            <a:ext cx="8138160" cy="566928"/>
          </a:xfrm>
          <a:prstGeom prst="rect">
            <a:avLst/>
          </a:prstGeom>
          <a:solidFill>
            <a:srgbClr val="4F5BD5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4197096"/>
            <a:ext cx="274320" cy="27432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143000" y="40416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dataset = fill one API.md + a thin extractor. The other ~90% is reused.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50292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physio-data  ·  Claude Code skills for research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8229600" y="48143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5BD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 YOUR OWN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build &amp; grow a skill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8813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4F5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you repeat is a candidate skill — write it once.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71500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Design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2084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Build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2668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/>
        </p:spPr>
      </p:sp>
      <p:sp>
        <p:nvSpPr>
          <p:cNvPr id="10" name="Text 8"/>
          <p:cNvSpPr/>
          <p:nvPr/>
        </p:nvSpPr>
        <p:spPr>
          <a:xfrm>
            <a:off x="772668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Use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72768"/>
            <a:ext cx="3950208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22376" y="1865376"/>
            <a:ext cx="530352" cy="530352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268" y="2003268"/>
            <a:ext cx="254569" cy="25456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80744" y="1773936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 after 2–3 reps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380744" y="210312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pre-plan a skill. Do the task a couple of times, then lift out the pattern.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90872" y="1572768"/>
            <a:ext cx="3950208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910328" y="1865376"/>
            <a:ext cx="530352" cy="530352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20" y="2003268"/>
            <a:ext cx="254569" cy="25456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568696" y="1773936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Scaffold with skill-creator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568696" y="210312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built-in skill-creator for structure; then sharpen the description.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02920" y="2798064"/>
            <a:ext cx="3950208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22376" y="3090672"/>
            <a:ext cx="530352" cy="530352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268" y="3228564"/>
            <a:ext cx="254569" cy="254569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80744" y="2999232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skill + code in sync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380744" y="3328416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something new? Update the skill in the same change. Drift kills trust.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690872" y="2798064"/>
            <a:ext cx="3950208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910328" y="3090672"/>
            <a:ext cx="530352" cy="530352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20" y="3228564"/>
            <a:ext cx="254569" cy="254569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68696" y="2999232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compounds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5568696" y="3328416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dataset onboarded made the skill sharper — guardrails accrue over time.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0292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physio-data  ·  Claude Code skills for research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8229600" y="48143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pg_white.png">    </p:cNvPr>
          <p:cNvPicPr>
            <a:picLocks noChangeAspect="1"/>
          </p:cNvPicPr>
          <p:nvPr/>
        </p:nvPicPr>
        <p:blipFill>
          <a:blip r:embed="rId1">
            <a:alphaModFix amt="26000"/>
          </a:blip>
          <a:stretch>
            <a:fillRect/>
          </a:stretch>
        </p:blipFill>
        <p:spPr>
          <a:xfrm>
            <a:off x="-457200" y="4114800"/>
            <a:ext cx="10058400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Design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72084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/>
        </p:spPr>
      </p:sp>
      <p:sp>
        <p:nvSpPr>
          <p:cNvPr id="6" name="Text 3"/>
          <p:cNvSpPr/>
          <p:nvPr/>
        </p:nvSpPr>
        <p:spPr>
          <a:xfrm>
            <a:off x="672084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Build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72668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CC7A33"/>
          </a:solidFill>
          <a:ln/>
        </p:spPr>
      </p:sp>
      <p:sp>
        <p:nvSpPr>
          <p:cNvPr id="8" name="Text 5"/>
          <p:cNvSpPr/>
          <p:nvPr/>
        </p:nvSpPr>
        <p:spPr>
          <a:xfrm>
            <a:off x="772668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Use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10515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0B8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3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1517904"/>
            <a:ext cx="109728" cy="950976"/>
          </a:xfrm>
          <a:prstGeom prst="rect">
            <a:avLst/>
          </a:prstGeom>
          <a:solidFill>
            <a:srgbClr val="CC7A33"/>
          </a:solidFill>
          <a:ln/>
        </p:spPr>
      </p:sp>
      <p:sp>
        <p:nvSpPr>
          <p:cNvPr id="11" name="Text 8"/>
          <p:cNvSpPr/>
          <p:nvPr/>
        </p:nvSpPr>
        <p:spPr>
          <a:xfrm>
            <a:off x="795528" y="138988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813816" y="2542032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the skill. Now point it at a brand-new dataset.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532120" y="1325880"/>
            <a:ext cx="3108960" cy="2514600"/>
          </a:xfrm>
          <a:prstGeom prst="roundRect">
            <a:avLst>
              <a:gd name="adj" fmla="val 2909"/>
            </a:avLst>
          </a:prstGeom>
          <a:solidFill>
            <a:srgbClr val="1B3D5C"/>
          </a:solidFill>
          <a:ln w="12700">
            <a:solidFill>
              <a:srgbClr val="27506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9864" y="15179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8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THIS PART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69864" y="188366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C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1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Two ways to invoke it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769864" y="22860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C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1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 step-by-step run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769864" y="268833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C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1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payoff: 7 datasets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7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INVOKE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ways to start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8813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CC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in; both lead to the same guided workflow.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71500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Design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2084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Build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2668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CC7A33"/>
          </a:solidFill>
          <a:ln/>
        </p:spPr>
      </p:sp>
      <p:sp>
        <p:nvSpPr>
          <p:cNvPr id="10" name="Text 8"/>
          <p:cNvSpPr/>
          <p:nvPr/>
        </p:nvSpPr>
        <p:spPr>
          <a:xfrm>
            <a:off x="772668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Use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828800"/>
            <a:ext cx="395020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58952" y="2084832"/>
            <a:ext cx="548640" cy="548640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598" y="2227478"/>
            <a:ext cx="263347" cy="26334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35608" y="210312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Explicit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77240" y="2743200"/>
            <a:ext cx="3401568" cy="502920"/>
          </a:xfrm>
          <a:prstGeom prst="roundRect">
            <a:avLst>
              <a:gd name="adj" fmla="val 10909"/>
            </a:avLst>
          </a:prstGeom>
          <a:solidFill>
            <a:srgbClr val="0F2A43"/>
          </a:solidFill>
          <a:ln/>
        </p:spPr>
      </p:sp>
      <p:sp>
        <p:nvSpPr>
          <p:cNvPr id="16" name="Text 13"/>
          <p:cNvSpPr/>
          <p:nvPr/>
        </p:nvSpPr>
        <p:spPr>
          <a:xfrm>
            <a:off x="923544" y="274320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/physio-data  mimic3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690872" y="1828800"/>
            <a:ext cx="395020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946904" y="2084832"/>
            <a:ext cx="548640" cy="548640"/>
          </a:xfrm>
          <a:prstGeom prst="ellipse">
            <a:avLst/>
          </a:prstGeom>
          <a:solidFill>
            <a:srgbClr val="EAF1F6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550" y="2227478"/>
            <a:ext cx="263347" cy="263347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623560" y="210312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4965192" y="2743200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say “help me onboard this physiological dataset” — the description triggers it automatically.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0292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physio-data  ·  Claude Code skills for research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8229600" y="48143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7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BY STEP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real run-through, with you in the loop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8813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CC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runs the steps; you stay at the two human checkpoints.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71500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Design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2084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Build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2668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CC7A33"/>
          </a:solidFill>
          <a:ln/>
        </p:spPr>
      </p:sp>
      <p:sp>
        <p:nvSpPr>
          <p:cNvPr id="10" name="Text 8"/>
          <p:cNvSpPr/>
          <p:nvPr/>
        </p:nvSpPr>
        <p:spPr>
          <a:xfrm>
            <a:off x="772668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Use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1664208"/>
            <a:ext cx="0" cy="2377440"/>
          </a:xfrm>
          <a:prstGeom prst="line">
            <a:avLst/>
          </a:prstGeom>
          <a:noFill/>
          <a:ln w="25400">
            <a:solidFill>
              <a:srgbClr val="D9E2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" y="1554480"/>
            <a:ext cx="237744" cy="237744"/>
          </a:xfrm>
          <a:prstGeom prst="ellipse">
            <a:avLst/>
          </a:prstGeom>
          <a:solidFill>
            <a:srgbClr val="CC7A3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151790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explore</a:t>
            </a:r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Claude probes raw files, profiles channels &amp; rates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21208" y="2011680"/>
            <a:ext cx="237744" cy="237744"/>
          </a:xfrm>
          <a:prstGeom prst="ellipse">
            <a:avLst/>
          </a:prstGeom>
          <a:solidFill>
            <a:srgbClr val="FF6B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197510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Single-entity demo</a:t>
            </a:r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you eyeball the signal + event alignment plot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46520" y="2011680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FBE7E4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200253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human check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21208" y="2468880"/>
            <a:ext cx="237744" cy="237744"/>
          </a:xfrm>
          <a:prstGeom prst="ellipse">
            <a:avLst/>
          </a:prstGeom>
          <a:solidFill>
            <a:srgbClr val="FF6B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243230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API.md</a:t>
            </a:r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you approve paths, channels, variables, timezones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46520" y="2468880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FBE7E4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245973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human check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21208" y="2926080"/>
            <a:ext cx="237744" cy="237744"/>
          </a:xfrm>
          <a:prstGeom prst="ellipse">
            <a:avLst/>
          </a:prstGeom>
          <a:solidFill>
            <a:srgbClr val="CC7A3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288950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--limit 5</a:t>
            </a:r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verify output format on 5 patients before scaling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21208" y="3383280"/>
            <a:ext cx="237744" cy="237744"/>
          </a:xfrm>
          <a:prstGeom prst="ellipse">
            <a:avLst/>
          </a:prstGeom>
          <a:solidFill>
            <a:srgbClr val="CC7A3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334670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extraction</a:t>
            </a:r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parallel workers in tmux, ≤ 50% of cluster cores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21208" y="3840480"/>
            <a:ext cx="237744" cy="237744"/>
          </a:xfrm>
          <a:prstGeom prst="ellipse">
            <a:avLst/>
          </a:prstGeom>
          <a:solidFill>
            <a:srgbClr val="CC7A3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380390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+ splits</a:t>
            </a:r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checks pass, subject-level train/val/test written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physio-data  ·  Claude Code skills for research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229600" y="48143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7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PAYOFF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Proof: one skill, seven datasets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8813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CC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very different datasets, one unchanged format.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71500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Design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2084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A2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Build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2668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CC7A33"/>
          </a:solidFill>
          <a:ln/>
        </p:spPr>
      </p:sp>
      <p:sp>
        <p:nvSpPr>
          <p:cNvPr id="10" name="Text 8"/>
          <p:cNvSpPr/>
          <p:nvPr/>
        </p:nvSpPr>
        <p:spPr>
          <a:xfrm>
            <a:off x="772668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Use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54864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463040"/>
                <a:gridCol w="1143000"/>
                <a:gridCol w="146304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Entities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MIMIC-III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PhysioNet ICU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complete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A–G pipeline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MC-MED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 monitoring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81,745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cohort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MOVER / SIS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UCI surgical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6,993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37.2% yield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MOVER / EPIC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UCI peri-op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1,819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 dataset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VitalDB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surgical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6,152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96.3% yield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Emory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ICU (internal)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complete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A–G stages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UCSF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ICU (internal)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complete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CA task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309360" y="1554480"/>
            <a:ext cx="23317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10528" y="1627632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83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3300" dirty="0"/>
          </a:p>
        </p:txBody>
      </p:sp>
      <p:sp>
        <p:nvSpPr>
          <p:cNvPr id="14" name="Text 11"/>
          <p:cNvSpPr/>
          <p:nvPr/>
        </p:nvSpPr>
        <p:spPr>
          <a:xfrm>
            <a:off x="7680960" y="1627632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onboarded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309360" y="2523744"/>
            <a:ext cx="23317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510528" y="2596896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4F5BD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300" dirty="0"/>
          </a:p>
        </p:txBody>
      </p:sp>
      <p:sp>
        <p:nvSpPr>
          <p:cNvPr id="17" name="Text 14"/>
          <p:cNvSpPr/>
          <p:nvPr/>
        </p:nvSpPr>
        <p:spPr>
          <a:xfrm>
            <a:off x="7680960" y="2596896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format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309360" y="3493008"/>
            <a:ext cx="23317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510528" y="356616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CC7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100k+</a:t>
            </a:r>
            <a:endParaRPr lang="en-US" sz="3300" dirty="0"/>
          </a:p>
        </p:txBody>
      </p:sp>
      <p:sp>
        <p:nvSpPr>
          <p:cNvPr id="20" name="Text 17"/>
          <p:cNvSpPr/>
          <p:nvPr/>
        </p:nvSpPr>
        <p:spPr>
          <a:xfrm>
            <a:off x="7680960" y="356616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patient-encounters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292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physio-data  ·  Claude Code skills for research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229600" y="48143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ecg_white.png">    </p:cNvPr>
          <p:cNvPicPr>
            <a:picLocks noChangeAspect="1"/>
          </p:cNvPicPr>
          <p:nvPr/>
        </p:nvPicPr>
        <p:blipFill>
          <a:blip r:embed="rId1">
            <a:alphaModFix amt="26000"/>
          </a:blip>
          <a:stretch>
            <a:fillRect/>
          </a:stretch>
        </p:blipFill>
        <p:spPr>
          <a:xfrm>
            <a:off x="-457200" y="4069080"/>
            <a:ext cx="1005840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your recurring problem.</a:t>
            </a:r>
            <a:endParaRPr lang="en-US" sz="2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the skill once. Reap it forever.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965960"/>
            <a:ext cx="3950208" cy="877824"/>
          </a:xfrm>
          <a:prstGeom prst="roundRect">
            <a:avLst>
              <a:gd name="adj" fmla="val 7292"/>
            </a:avLst>
          </a:prstGeom>
          <a:solidFill>
            <a:srgbClr val="1B3D5C"/>
          </a:solidFill>
          <a:ln w="12700">
            <a:solidFill>
              <a:srgbClr val="27506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04088" y="2167128"/>
            <a:ext cx="475488" cy="475488"/>
          </a:xfrm>
          <a:prstGeom prst="ellipse">
            <a:avLst/>
          </a:prstGeom>
          <a:solidFill>
            <a:srgbClr val="27506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715" y="2290755"/>
            <a:ext cx="228234" cy="2282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07592" y="2093976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&amp; design before code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307592" y="2386584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C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Claude Code to explore, profile, and argue trade-offs first.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690872" y="1965960"/>
            <a:ext cx="3950208" cy="877824"/>
          </a:xfrm>
          <a:prstGeom prst="roundRect">
            <a:avLst>
              <a:gd name="adj" fmla="val 7292"/>
            </a:avLst>
          </a:prstGeom>
          <a:solidFill>
            <a:srgbClr val="1B3D5C"/>
          </a:solidFill>
          <a:ln w="12700">
            <a:solidFill>
              <a:srgbClr val="27506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892040" y="2167128"/>
            <a:ext cx="475488" cy="475488"/>
          </a:xfrm>
          <a:prstGeom prst="ellipse">
            <a:avLst/>
          </a:prstGeom>
          <a:solidFill>
            <a:srgbClr val="27506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667" y="2290755"/>
            <a:ext cx="228234" cy="22823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95544" y="2093976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Spot the same-shape task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495544" y="2386584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C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shape + varying details = a skill waiting to be written.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02920" y="2971800"/>
            <a:ext cx="3950208" cy="877824"/>
          </a:xfrm>
          <a:prstGeom prst="roundRect">
            <a:avLst>
              <a:gd name="adj" fmla="val 7292"/>
            </a:avLst>
          </a:prstGeom>
          <a:solidFill>
            <a:srgbClr val="1B3D5C"/>
          </a:solidFill>
          <a:ln w="12700">
            <a:solidFill>
              <a:srgbClr val="27506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04088" y="3172968"/>
            <a:ext cx="475488" cy="475488"/>
          </a:xfrm>
          <a:prstGeom prst="ellipse">
            <a:avLst/>
          </a:prstGeom>
          <a:solidFill>
            <a:srgbClr val="27506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15" y="329659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07592" y="3099816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Split shared from variable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307592" y="3392424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C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+ package = the 90%; a per-case spec = the 10%.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690872" y="2971800"/>
            <a:ext cx="3950208" cy="877824"/>
          </a:xfrm>
          <a:prstGeom prst="roundRect">
            <a:avLst>
              <a:gd name="adj" fmla="val 7292"/>
            </a:avLst>
          </a:prstGeom>
          <a:solidFill>
            <a:srgbClr val="1B3D5C"/>
          </a:solidFill>
          <a:ln w="12700">
            <a:solidFill>
              <a:srgbClr val="27506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892040" y="3172968"/>
            <a:ext cx="475488" cy="475488"/>
          </a:xfrm>
          <a:prstGeom prst="ellipse">
            <a:avLst/>
          </a:prstGeom>
          <a:solidFill>
            <a:srgbClr val="27506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5667" y="3296595"/>
            <a:ext cx="228234" cy="22823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95544" y="3099816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humans at the gates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5495544" y="3392424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C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work; verify at the moments that matter.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50292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physio-data  ·  Claude Code skills for research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8229600" y="48143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Designing, Building &amp; Using the physio-data Skill</dc:title>
  <dc:subject>PptxGenJS Presentation</dc:subject>
  <dc:creator>Minxiao Wang</dc:creator>
  <cp:lastModifiedBy>Minxiao Wang</cp:lastModifiedBy>
  <cp:revision>1</cp:revision>
  <dcterms:created xsi:type="dcterms:W3CDTF">2026-06-12T19:33:46Z</dcterms:created>
  <dcterms:modified xsi:type="dcterms:W3CDTF">2026-06-12T19:33:46Z</dcterms:modified>
</cp:coreProperties>
</file>